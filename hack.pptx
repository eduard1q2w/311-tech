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5"/>
  </p:notesMasterIdLst>
  <p:sldIdLst>
    <p:sldId id="256" r:id="rId2"/>
    <p:sldId id="267" r:id="rId3"/>
    <p:sldId id="278" r:id="rId4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6"/>
      <p:bold r:id="rId7"/>
      <p:italic r:id="rId8"/>
      <p:boldItalic r:id="rId9"/>
    </p:embeddedFon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23D88A-D973-429A-9EDC-3CBD3EFF1A3B}">
  <a:tblStyle styleId="{C523D88A-D973-429A-9EDC-3CBD3EFF1A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g24ef22aa1ac_0_10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7" name="Google Shape;2197;g24ef22aa1ac_0_10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3" name="Google Shape;253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4" name="Google Shape;254;p6"/>
            <p:cNvPicPr preferRelativeResize="0"/>
            <p:nvPr/>
          </p:nvPicPr>
          <p:blipFill rotWithShape="1">
            <a:blip r:embed="rId2">
              <a:alphaModFix/>
            </a:blip>
            <a:srcRect t="17657" b="17664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6" name="Google Shape;256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57" name="Google Shape;257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58" name="Google Shape;258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1" name="Google Shape;26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69" name="Google Shape;26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0" name="Google Shape;270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1" name="Google Shape;271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" name="Google Shape;275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76" name="Google Shape;2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" name="Google Shape;2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" name="Google Shape;2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" name="Google Shape;2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2" name="Google Shape;2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84" name="Google Shape;2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86" name="Google Shape;28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88" name="Google Shape;28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9" name="Google Shape;28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0" name="Google Shape;29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1" name="Google Shape;29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2" name="Google Shape;29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94" name="Google Shape;29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5" name="Google Shape;295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296" name="Google Shape;296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297" name="Google Shape;297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9" name="Google Shape;299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0" name="Google Shape;30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" name="Google Shape;30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02" name="Google Shape;30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" name="Google Shape;30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08" name="Google Shape;30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0" name="Google Shape;310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17" name="Google Shape;31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" name="Google Shape;31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23" name="Google Shape;32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5" name="Google Shape;32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27" name="Google Shape;32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8" name="Google Shape;32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9" name="Google Shape;32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0" name="Google Shape;33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" name="Google Shape;33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333" name="Google Shape;33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" name="Google Shape;334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5" name="Google Shape;33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6" name="Google Shape;33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7" name="Google Shape;33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76" r:id="rId5"/>
    <p:sldLayoutId id="214748367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o-RO" sz="4800">
                <a:effectLst>
                  <a:outerShdw blurRad="50800" dist="152400" dir="5400000" algn="ctr" rotWithShape="0">
                    <a:srgbClr val="000000">
                      <a:alpha val="0"/>
                    </a:srgbClr>
                  </a:outerShdw>
                </a:effectLst>
              </a:rPr>
              <a:t>DURIAN-v1.0</a:t>
            </a:r>
            <a:r>
              <a:rPr lang="en-US" sz="4800">
                <a:effectLst>
                  <a:outerShdw blurRad="50800" dist="152400" dir="5400000" algn="ctr" rotWithShape="0">
                    <a:srgbClr val="000000">
                      <a:alpha val="0"/>
                    </a:srgbClr>
                  </a:outerShdw>
                </a:effectLst>
              </a:rPr>
              <a:t>™</a:t>
            </a:r>
            <a:r>
              <a:rPr lang="ro-RO" sz="4800">
                <a:effectLst>
                  <a:outerShdw blurRad="50800" dist="152400" dir="5400000" algn="ctr" rotWithShape="0">
                    <a:srgbClr val="000000">
                      <a:alpha val="0"/>
                    </a:srgbClr>
                  </a:outerShdw>
                </a:effectLst>
              </a:rPr>
              <a:t> by 311Tech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Subtitle 3">
            <a:extLst>
              <a:ext uri="{FF2B5EF4-FFF2-40B4-BE49-F238E27FC236}">
                <a16:creationId xmlns:a16="http://schemas.microsoft.com/office/drawing/2014/main" id="{C3A8E5A7-3F98-504C-EB4C-0A0B18F932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/>
              <a:t>Un digital twin care vede, simulează și prezice comportamentul clădirilor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46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668184" cy="18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/>
              <a:t>Concept</a:t>
            </a:r>
            <a:r>
              <a:rPr lang="ro-RO" sz="3200"/>
              <a:t> </a:t>
            </a:r>
            <a:r>
              <a:rPr lang="en-US" sz="3200"/>
              <a:t>–</a:t>
            </a:r>
            <a:r>
              <a:rPr lang="ro-RO" sz="3200"/>
              <a:t> </a:t>
            </a:r>
            <a:br>
              <a:rPr lang="en-US" sz="3200"/>
            </a:br>
            <a:r>
              <a:rPr lang="en-US" sz="3200"/>
              <a:t>Ce este </a:t>
            </a:r>
            <a:r>
              <a:rPr lang="ro-RO" sz="3200"/>
              <a:t>DURIAN-v1.0</a:t>
            </a:r>
            <a:r>
              <a:rPr lang="en-US" sz="3200"/>
              <a:t>™?</a:t>
            </a:r>
            <a:endParaRPr/>
          </a:p>
        </p:txBody>
      </p:sp>
      <p:sp>
        <p:nvSpPr>
          <p:cNvPr id="1842" name="Google Shape;1842;p46"/>
          <p:cNvSpPr txBox="1">
            <a:spLocks noGrp="1"/>
          </p:cNvSpPr>
          <p:nvPr>
            <p:ph type="subTitle" idx="1"/>
          </p:nvPr>
        </p:nvSpPr>
        <p:spPr>
          <a:xfrm>
            <a:off x="719999" y="2359400"/>
            <a:ext cx="3312173" cy="2304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o-RO"/>
              <a:t>DURIAN</a:t>
            </a:r>
            <a:r>
              <a:rPr lang="en-US"/>
              <a:t>-v1.0™ un digital twin predictiv care conectează o structură reală la un model virtual dinamic.</a:t>
            </a:r>
          </a:p>
          <a:p>
            <a:r>
              <a:rPr lang="en-US"/>
              <a:t>Arhitectura este simplă și eficientă:</a:t>
            </a:r>
          </a:p>
          <a:p>
            <a:pPr marL="186262" indent="0">
              <a:buNone/>
            </a:pPr>
            <a:r>
              <a:rPr lang="en-US"/>
              <a:t>	Senzor (MPU6050) → Raspberry Pi → 	Procesare → Predictor → Dashboard</a:t>
            </a:r>
          </a:p>
        </p:txBody>
      </p:sp>
      <p:grpSp>
        <p:nvGrpSpPr>
          <p:cNvPr id="1843" name="Google Shape;1843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4" name="Google Shape;1844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F744A6D1-20A1-C2E0-F23C-25A1CA27F37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5250" t="13359" r="1155"/>
          <a:stretch>
            <a:fillRect/>
          </a:stretch>
        </p:blipFill>
        <p:spPr>
          <a:xfrm>
            <a:off x="4252511" y="785209"/>
            <a:ext cx="4509207" cy="3573081"/>
          </a:xfrm>
          <a:prstGeom prst="snip1Rect">
            <a:avLst>
              <a:gd name="adj" fmla="val 15970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/>
              <a:t>Problemă vs soluție</a:t>
            </a:r>
            <a:endParaRPr/>
          </a:p>
        </p:txBody>
      </p:sp>
      <p:sp>
        <p:nvSpPr>
          <p:cNvPr id="2200" name="Google Shape;2200;p57"/>
          <p:cNvSpPr txBox="1"/>
          <p:nvPr/>
        </p:nvSpPr>
        <p:spPr>
          <a:xfrm>
            <a:off x="5830935" y="3330599"/>
            <a:ext cx="2204100" cy="119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/>
              <a:t>Monitorizare în timp real + model predictiv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03" name="Google Shape;2203;p57"/>
          <p:cNvSpPr txBox="1"/>
          <p:nvPr/>
        </p:nvSpPr>
        <p:spPr>
          <a:xfrm>
            <a:off x="3081075" y="3041618"/>
            <a:ext cx="2204100" cy="1581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/>
              <a:t>Monitorizare în timp real a vibrațiilor și stresului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04" name="Google Shape;2204;p57"/>
          <p:cNvSpPr txBox="1"/>
          <p:nvPr/>
        </p:nvSpPr>
        <p:spPr>
          <a:xfrm>
            <a:off x="1081300" y="1606525"/>
            <a:ext cx="14538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Problem</a:t>
            </a:r>
            <a:r>
              <a:rPr lang="ro-RO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ă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05" name="Google Shape;2205;p57"/>
          <p:cNvSpPr txBox="1"/>
          <p:nvPr/>
        </p:nvSpPr>
        <p:spPr>
          <a:xfrm>
            <a:off x="1081300" y="3631175"/>
            <a:ext cx="14538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Solu</a:t>
            </a:r>
            <a:r>
              <a:rPr lang="ro-RO" sz="20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ție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06" name="Google Shape;2206;p57"/>
          <p:cNvCxnSpPr/>
          <p:nvPr/>
        </p:nvCxnSpPr>
        <p:spPr>
          <a:xfrm>
            <a:off x="1144100" y="2820300"/>
            <a:ext cx="69186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7" name="Google Shape;2207;p57"/>
          <p:cNvSpPr txBox="1"/>
          <p:nvPr/>
        </p:nvSpPr>
        <p:spPr>
          <a:xfrm>
            <a:off x="5830935" y="859316"/>
            <a:ext cx="2204100" cy="157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/>
              <a:t>Detectarea prea târzie a degradării structurale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210" name="Google Shape;2210;p57"/>
          <p:cNvSpPr txBox="1"/>
          <p:nvPr/>
        </p:nvSpPr>
        <p:spPr>
          <a:xfrm>
            <a:off x="3081075" y="1428256"/>
            <a:ext cx="2204100" cy="801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/>
              <a:t>Inspecții structurale rare</a:t>
            </a:r>
            <a:endParaRPr sz="2000" b="1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2211" name="Google Shape;2211;p57"/>
          <p:cNvCxnSpPr>
            <a:cxnSpLocks/>
            <a:stCxn id="2210" idx="1"/>
            <a:endCxn id="2203" idx="1"/>
          </p:cNvCxnSpPr>
          <p:nvPr/>
        </p:nvCxnSpPr>
        <p:spPr>
          <a:xfrm rot="10800000" flipV="1">
            <a:off x="3081075" y="1829199"/>
            <a:ext cx="12700" cy="2003047"/>
          </a:xfrm>
          <a:prstGeom prst="bentConnector3">
            <a:avLst>
              <a:gd name="adj1" fmla="val 180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12" name="Google Shape;2212;p57"/>
          <p:cNvCxnSpPr>
            <a:cxnSpLocks/>
            <a:stCxn id="2207" idx="1"/>
            <a:endCxn id="2200" idx="1"/>
          </p:cNvCxnSpPr>
          <p:nvPr/>
        </p:nvCxnSpPr>
        <p:spPr>
          <a:xfrm rot="10800000" flipV="1">
            <a:off x="5830935" y="1647022"/>
            <a:ext cx="12700" cy="2282244"/>
          </a:xfrm>
          <a:prstGeom prst="bentConnector3">
            <a:avLst>
              <a:gd name="adj1" fmla="val 180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Microsoft Office PowerPoint</Application>
  <PresentationFormat>On-screen Show (16:9)</PresentationFormat>
  <Paragraphs>13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Poppins</vt:lpstr>
      <vt:lpstr>Arial</vt:lpstr>
      <vt:lpstr>IBM Plex Mono</vt:lpstr>
      <vt:lpstr>Open Sans</vt:lpstr>
      <vt:lpstr>Introduction to Coding Workshop by Slidesgo</vt:lpstr>
      <vt:lpstr>DURIAN-v1.0™ by 311Tech</vt:lpstr>
      <vt:lpstr>Concept –  Ce este DURIAN-v1.0™?</vt:lpstr>
      <vt:lpstr>Problemă vs soluție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DIO Brando</cp:lastModifiedBy>
  <cp:revision>1</cp:revision>
  <dcterms:modified xsi:type="dcterms:W3CDTF">2026-04-24T17:34:18Z</dcterms:modified>
</cp:coreProperties>
</file>